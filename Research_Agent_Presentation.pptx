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From Zero to Production</a:t>
            </a:r>
          </a:p>
          <a:p>
            <a:r>
              <a:rPr sz="2400" b="0">
                <a:solidFill>
                  <a:srgbClr val="FFFFFF"/>
                </a:solidFill>
              </a:rPr>
              <a:t>Building a Multi-Node AI Agent with RAG,</a:t>
            </a:r>
          </a:p>
          <a:p>
            <a:r>
              <a:rPr sz="2400" b="0">
                <a:solidFill>
                  <a:srgbClr val="FFFFFF"/>
                </a:solidFill>
              </a:rPr>
              <a:t>Guardrails, and Cloud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Chandra Prakash</a:t>
            </a:r>
          </a:p>
          <a:p>
            <a:r>
              <a:rPr sz="1400" b="0">
                <a:solidFill>
                  <a:srgbClr val="FFFFFF"/>
                </a:solidFill>
              </a:rPr>
              <a:t>github.com/cprakash0105/research-agent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</a:rPr>
              <a:t>Most AI demos stop at "call an LLM and print the response"</a:t>
            </a:r>
          </a:p>
          <a:p>
            <a:r>
              <a:rPr sz="1600" b="0">
                <a:solidFill>
                  <a:srgbClr val="1F2937"/>
                </a:solidFill>
              </a:rPr>
              <a:t/>
            </a:r>
          </a:p>
          <a:p>
            <a:r>
              <a:rPr sz="1800" b="0">
                <a:solidFill>
                  <a:srgbClr val="64748B"/>
                </a:solidFill>
              </a:rPr>
              <a:t>✗  No structured reasoning or planning</a:t>
            </a:r>
          </a:p>
          <a:p>
            <a:r>
              <a:rPr sz="1800" b="0">
                <a:solidFill>
                  <a:srgbClr val="64748B"/>
                </a:solidFill>
              </a:rPr>
              <a:t>✗  No grounding in real sources (hallucination)</a:t>
            </a:r>
          </a:p>
          <a:p>
            <a:r>
              <a:rPr sz="1800" b="0">
                <a:solidFill>
                  <a:srgbClr val="64748B"/>
                </a:solidFill>
              </a:rPr>
              <a:t>✗  No security or governance</a:t>
            </a:r>
          </a:p>
          <a:p>
            <a:r>
              <a:rPr sz="1800" b="0">
                <a:solidFill>
                  <a:srgbClr val="64748B"/>
                </a:solidFill>
              </a:rPr>
              <a:t>✗  No production deployment</a:t>
            </a:r>
          </a:p>
          <a:p>
            <a:r>
              <a:rPr sz="1600" b="0">
                <a:solidFill>
                  <a:srgbClr val="1F2937"/>
                </a:solidFill>
              </a:rPr>
              <a:t/>
            </a:r>
          </a:p>
          <a:p>
            <a:r>
              <a:rPr sz="1800" b="0">
                <a:solidFill>
                  <a:srgbClr val="1F2937"/>
                </a:solidFill>
              </a:rPr>
              <a:t>Goal: Build something that thinks in steps, uses tools,</a:t>
            </a:r>
          </a:p>
          <a:p>
            <a:r>
              <a:rPr sz="1800" b="0">
                <a:solidFill>
                  <a:srgbClr val="1F2937"/>
                </a:solidFill>
              </a:rPr>
              <a:t>retrieves grounded information, and does it all safely.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</a:rPr>
              <a:t>The Solution: Research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</a:rPr>
              <a:t>An agentic AI assistant that autonomously:</a:t>
            </a:r>
          </a:p>
          <a:p>
            <a:r>
              <a:rPr sz="1600" b="0">
                <a:solidFill>
                  <a:srgbClr val="1F2937"/>
                </a:solidFill>
              </a:rPr>
              <a:t/>
            </a:r>
          </a:p>
          <a:p>
            <a:r>
              <a:rPr sz="1800" b="0">
                <a:solidFill>
                  <a:srgbClr val="1F2937"/>
                </a:solidFill>
              </a:rPr>
              <a:t>🧠  Plans — Breaks query into targeted sub-questions</a:t>
            </a:r>
          </a:p>
          <a:p>
            <a:r>
              <a:rPr sz="1800" b="0">
                <a:solidFill>
                  <a:srgbClr val="1F2937"/>
                </a:solidFill>
              </a:rPr>
              <a:t>🔍  Researches — Searches web + indexes uploaded documents</a:t>
            </a:r>
          </a:p>
          <a:p>
            <a:r>
              <a:rPr sz="1800" b="0">
                <a:solidFill>
                  <a:srgbClr val="1F2937"/>
                </a:solidFill>
              </a:rPr>
              <a:t>📊  Analyzes — RAG retrieval for grounded synthesis</a:t>
            </a:r>
          </a:p>
          <a:p>
            <a:r>
              <a:rPr sz="1800" b="0">
                <a:solidFill>
                  <a:srgbClr val="1F2937"/>
                </a:solidFill>
              </a:rPr>
              <a:t>✍️   Writes — Structured report with citations</a:t>
            </a:r>
          </a:p>
          <a:p>
            <a:r>
              <a:rPr sz="1800" b="0">
                <a:solidFill>
                  <a:srgbClr val="1F2937"/>
                </a:solidFill>
              </a:rPr>
              <a:t>💬  Answers — Follow-up Q&amp;A via RAG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</a:rPr>
              <a:t>Agent Architecture (LangGraph State Machine)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</a:rPr>
              <a:t>4-Node Pipeline:</a:t>
            </a:r>
          </a:p>
          <a:p>
            <a:r>
              <a:rPr sz="1600" b="0">
                <a:solidFill>
                  <a:srgbClr val="1F2937"/>
                </a:solidFill>
              </a:rPr>
              <a:t/>
            </a:r>
          </a:p>
          <a:p>
            <a:r>
              <a:rPr sz="1600" b="0">
                <a:solidFill>
                  <a:srgbClr val="64748B"/>
                </a:solidFill>
              </a:rPr>
              <a:t>User Query</a:t>
            </a:r>
          </a:p>
          <a:p>
            <a:r>
              <a:rPr sz="1600" b="0">
                <a:solidFill>
                  <a:srgbClr val="64748B"/>
                </a:solidFill>
              </a:rPr>
              <a:t>    ↓</a:t>
            </a:r>
          </a:p>
          <a:p>
            <a:r>
              <a:rPr sz="1700" b="0">
                <a:solidFill>
                  <a:srgbClr val="1F2937"/>
                </a:solidFill>
              </a:rPr>
              <a:t>🧠 PLANNER → Breaks into 3-5 sub-questions</a:t>
            </a:r>
          </a:p>
          <a:p>
            <a:r>
              <a:rPr sz="1600" b="0">
                <a:solidFill>
                  <a:srgbClr val="64748B"/>
                </a:solidFill>
              </a:rPr>
              <a:t>    ↓</a:t>
            </a:r>
          </a:p>
          <a:p>
            <a:r>
              <a:rPr sz="1700" b="0">
                <a:solidFill>
                  <a:srgbClr val="1F2937"/>
                </a:solidFill>
              </a:rPr>
              <a:t>🔍 RESEARCHER → Tavily search + FAISS indexing</a:t>
            </a:r>
          </a:p>
          <a:p>
            <a:r>
              <a:rPr sz="1600" b="0">
                <a:solidFill>
                  <a:srgbClr val="64748B"/>
                </a:solidFill>
              </a:rPr>
              <a:t>    ↓</a:t>
            </a:r>
          </a:p>
          <a:p>
            <a:r>
              <a:rPr sz="1700" b="0">
                <a:solidFill>
                  <a:srgbClr val="1F2937"/>
                </a:solidFill>
              </a:rPr>
              <a:t>📊 ANALYST → RAG retrieval (top-k) + synthesis</a:t>
            </a:r>
          </a:p>
          <a:p>
            <a:r>
              <a:rPr sz="1600" b="0">
                <a:solidFill>
                  <a:srgbClr val="64748B"/>
                </a:solidFill>
              </a:rPr>
              <a:t>    ↓</a:t>
            </a:r>
          </a:p>
          <a:p>
            <a:r>
              <a:rPr sz="1700" b="0">
                <a:solidFill>
                  <a:srgbClr val="1F2937"/>
                </a:solidFill>
              </a:rPr>
              <a:t>✍️  WRITER → Markdown report with citations</a:t>
            </a:r>
          </a:p>
          <a:p>
            <a:r>
              <a:rPr sz="1600" b="0">
                <a:solidFill>
                  <a:srgbClr val="64748B"/>
                </a:solidFill>
              </a:rPr>
              <a:t>    ↓</a:t>
            </a:r>
          </a:p>
          <a:p>
            <a:r>
              <a:rPr sz="1700" b="0">
                <a:solidFill>
                  <a:srgbClr val="1F2937"/>
                </a:solidFill>
              </a:rPr>
              <a:t>💬 FOLLOW-UP Q&amp;A → RAG against same index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</a:rPr>
              <a:t>RAG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</a:rPr>
              <a:t>Sources (Web + Uploaded Docs)</a:t>
            </a:r>
          </a:p>
          <a:p>
            <a:r>
              <a:rPr sz="1600" b="0">
                <a:solidFill>
                  <a:srgbClr val="1F2937"/>
                </a:solidFill>
              </a:rPr>
              <a:t>    ↓ PII Redaction (Microsoft Presidio)</a:t>
            </a:r>
          </a:p>
          <a:p>
            <a:r>
              <a:rPr sz="1600" b="0">
                <a:solidFill>
                  <a:srgbClr val="1F2937"/>
                </a:solidFill>
              </a:rPr>
              <a:t>    ↓ Text Splitting (500 chars, 50 overlap)</a:t>
            </a:r>
          </a:p>
          <a:p>
            <a:r>
              <a:rPr sz="1600" b="0">
                <a:solidFill>
                  <a:srgbClr val="1F2937"/>
                </a:solidFill>
              </a:rPr>
              <a:t>    ↓ Embedding (Gemini Embedding 001, 3072 dim)</a:t>
            </a:r>
          </a:p>
          <a:p>
            <a:r>
              <a:rPr sz="1600" b="0">
                <a:solidFill>
                  <a:srgbClr val="1F2937"/>
                </a:solidFill>
              </a:rPr>
              <a:t>    ↓ FAISS Vector Index (in-memory)</a:t>
            </a:r>
          </a:p>
          <a:p>
            <a:r>
              <a:rPr sz="1600" b="0">
                <a:solidFill>
                  <a:srgbClr val="1F2937"/>
                </a:solidFill>
              </a:rPr>
              <a:t>    ↓ Similarity Search (top-k per query)</a:t>
            </a:r>
          </a:p>
          <a:p>
            <a:r>
              <a:rPr sz="1600" b="0">
                <a:solidFill>
                  <a:srgbClr val="1F2937"/>
                </a:solidFill>
              </a:rPr>
              <a:t>    ↓ Deduplication across sub-questions</a:t>
            </a:r>
          </a:p>
          <a:p>
            <a:r>
              <a:rPr sz="1600" b="0">
                <a:solidFill>
                  <a:srgbClr val="1F2937"/>
                </a:solidFill>
              </a:rPr>
              <a:t>    ↓ Context → LLM → Analysis / Answer</a:t>
            </a:r>
          </a:p>
          <a:p>
            <a:r>
              <a:rPr sz="1600" b="0">
                <a:solidFill>
                  <a:srgbClr val="1F2937"/>
                </a:solidFill>
              </a:rPr>
              <a:t/>
            </a:r>
          </a:p>
          <a:p>
            <a:r>
              <a:rPr sz="1700" b="1">
                <a:solidFill>
                  <a:srgbClr val="4F46E5"/>
                </a:solidFill>
              </a:rPr>
              <a:t>Key: 8 relevant chunks &gt; 50 raw search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</a:rPr>
              <a:t>Governance &amp; Security (10 Features)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F46E5"/>
                </a:solidFill>
              </a:rPr>
              <a:t>Input Protection</a:t>
            </a:r>
          </a:p>
          <a:p>
            <a:r>
              <a:rPr sz="1500" b="0">
                <a:solidFill>
                  <a:srgbClr val="1F2937"/>
                </a:solidFill>
              </a:rPr>
              <a:t>🔒 Authentication (password)</a:t>
            </a:r>
          </a:p>
          <a:p>
            <a:r>
              <a:rPr sz="1500" b="0">
                <a:solidFill>
                  <a:srgbClr val="1F2937"/>
                </a:solidFill>
              </a:rPr>
              <a:t>🚦 Rate Limiting (10 req/min)</a:t>
            </a:r>
          </a:p>
          <a:p>
            <a:r>
              <a:rPr sz="1500" b="0">
                <a:solidFill>
                  <a:srgbClr val="1F2937"/>
                </a:solidFill>
              </a:rPr>
              <a:t>🛡️  Input Validation (regex)</a:t>
            </a:r>
          </a:p>
          <a:p>
            <a:r>
              <a:rPr sz="1500" b="0">
                <a:solidFill>
                  <a:srgbClr val="1F2937"/>
                </a:solidFill>
              </a:rPr>
              <a:t>🧠 Prompt Injection Guard (LLM)</a:t>
            </a:r>
          </a:p>
          <a:p>
            <a:r>
              <a:rPr sz="1500" b="0">
                <a:solidFill>
                  <a:srgbClr val="1F2937"/>
                </a:solidFill>
              </a:rPr>
              <a:t>🔐 Encrypted Secrets (Fernet)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F46E5"/>
                </a:solidFill>
              </a:rPr>
              <a:t>Output &amp; Data Protection</a:t>
            </a:r>
          </a:p>
          <a:p>
            <a:r>
              <a:rPr sz="1500" b="0">
                <a:solidFill>
                  <a:srgbClr val="1F2937"/>
                </a:solidFill>
              </a:rPr>
              <a:t>🚫 Output Safety Filter (LLM)</a:t>
            </a:r>
          </a:p>
          <a:p>
            <a:r>
              <a:rPr sz="1500" b="0">
                <a:solidFill>
                  <a:srgbClr val="1F2937"/>
                </a:solidFill>
              </a:rPr>
              <a:t>🔐 PII Redaction (Presidio)</a:t>
            </a:r>
          </a:p>
          <a:p>
            <a:r>
              <a:rPr sz="1500" b="0">
                <a:solidFill>
                  <a:srgbClr val="1F2937"/>
                </a:solidFill>
              </a:rPr>
              <a:t>📋 Audit Trail (JSONL)</a:t>
            </a:r>
          </a:p>
          <a:p>
            <a:r>
              <a:rPr sz="1500" b="0">
                <a:solidFill>
                  <a:srgbClr val="1F2937"/>
                </a:solidFill>
              </a:rPr>
              <a:t>💰 Token Budget Tracking</a:t>
            </a:r>
          </a:p>
          <a:p>
            <a:r>
              <a:rPr sz="1500" b="0">
                <a:solidFill>
                  <a:srgbClr val="1F2937"/>
                </a:solidFill>
              </a:rPr>
              <a:t>⏰ Session TTL (30 min)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F46E5"/>
                </a:solidFill>
              </a:rPr>
              <a:t>AI &amp; Backend</a:t>
            </a:r>
          </a:p>
          <a:p>
            <a:r>
              <a:rPr sz="1500" b="0">
                <a:solidFill>
                  <a:srgbClr val="1F2937"/>
                </a:solidFill>
              </a:rPr>
              <a:t>LangGraph (agent orchestration)</a:t>
            </a:r>
          </a:p>
          <a:p>
            <a:r>
              <a:rPr sz="1500" b="0">
                <a:solidFill>
                  <a:srgbClr val="1F2937"/>
                </a:solidFill>
              </a:rPr>
              <a:t>Google Gemini 2.0 Flash (LLM)</a:t>
            </a:r>
          </a:p>
          <a:p>
            <a:r>
              <a:rPr sz="1500" b="0">
                <a:solidFill>
                  <a:srgbClr val="1F2937"/>
                </a:solidFill>
              </a:rPr>
              <a:t>Gemini Embedding 001</a:t>
            </a:r>
          </a:p>
          <a:p>
            <a:r>
              <a:rPr sz="1500" b="0">
                <a:solidFill>
                  <a:srgbClr val="1F2937"/>
                </a:solidFill>
              </a:rPr>
              <a:t>Tavily (web search)</a:t>
            </a:r>
          </a:p>
          <a:p>
            <a:r>
              <a:rPr sz="1500" b="0">
                <a:solidFill>
                  <a:srgbClr val="1F2937"/>
                </a:solidFill>
              </a:rPr>
              <a:t>FAISS (vector store)</a:t>
            </a:r>
          </a:p>
          <a:p>
            <a:r>
              <a:rPr sz="1500" b="0">
                <a:solidFill>
                  <a:srgbClr val="1F2937"/>
                </a:solidFill>
              </a:rPr>
              <a:t>Presidio + spaCy (PII)</a:t>
            </a:r>
          </a:p>
          <a:p>
            <a:r>
              <a:rPr sz="1500" b="0">
                <a:solidFill>
                  <a:srgbClr val="1F2937"/>
                </a:solidFill>
              </a:rPr>
              <a:t>Chainlit (UI)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F46E5"/>
                </a:solidFill>
              </a:rPr>
              <a:t>Infrastructure</a:t>
            </a:r>
          </a:p>
          <a:p>
            <a:r>
              <a:rPr sz="1500" b="0">
                <a:solidFill>
                  <a:srgbClr val="1F2937"/>
                </a:solidFill>
              </a:rPr>
              <a:t>GCP Cloud Run (serverless)</a:t>
            </a:r>
          </a:p>
          <a:p>
            <a:r>
              <a:rPr sz="1500" b="0">
                <a:solidFill>
                  <a:srgbClr val="1F2937"/>
                </a:solidFill>
              </a:rPr>
              <a:t>GCP Secret Manager</a:t>
            </a:r>
          </a:p>
          <a:p>
            <a:r>
              <a:rPr sz="1500" b="0">
                <a:solidFill>
                  <a:srgbClr val="1F2937"/>
                </a:solidFill>
              </a:rPr>
              <a:t>GCP Cloud Build (CI/CD)</a:t>
            </a:r>
          </a:p>
          <a:p>
            <a:r>
              <a:rPr sz="1500" b="0">
                <a:solidFill>
                  <a:srgbClr val="1F2937"/>
                </a:solidFill>
              </a:rPr>
              <a:t>Artifact Registry</a:t>
            </a:r>
          </a:p>
          <a:p>
            <a:r>
              <a:rPr sz="1500" b="0">
                <a:solidFill>
                  <a:srgbClr val="1F2937"/>
                </a:solidFill>
              </a:rPr>
              <a:t>Docker (python:3.11-slim)</a:t>
            </a:r>
          </a:p>
          <a:p>
            <a:r>
              <a:rPr sz="1500" b="0">
                <a:solidFill>
                  <a:srgbClr val="1F2937"/>
                </a:solidFill>
              </a:rPr>
              <a:t>Kind (local K8s dev)</a:t>
            </a:r>
          </a:p>
          <a:p>
            <a:r>
              <a:rPr sz="1500" b="0">
                <a:solidFill>
                  <a:srgbClr val="1F2937"/>
                </a:solidFill>
              </a:rPr>
              <a:t>pytest (76 automated tests)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</a:rPr>
              <a:t>Cloud Deployment (GCP Cloud Run)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</a:rPr>
              <a:t>CI/CD Pipeline:</a:t>
            </a:r>
          </a:p>
          <a:p>
            <a:r>
              <a:rPr sz="1600" b="0">
                <a:solidFill>
                  <a:srgbClr val="1F2937"/>
                </a:solidFill>
              </a:rPr>
              <a:t/>
            </a:r>
          </a:p>
          <a:p>
            <a:r>
              <a:rPr sz="1700" b="1">
                <a:solidFill>
                  <a:srgbClr val="4F46E5"/>
                </a:solidFill>
              </a:rPr>
              <a:t>git push → Cloud Build → Artifact Registry → Cloud Run</a:t>
            </a:r>
          </a:p>
          <a:p>
            <a:r>
              <a:rPr sz="1600" b="0">
                <a:solidFill>
                  <a:srgbClr val="1F2937"/>
                </a:solidFill>
              </a:rPr>
              <a:t/>
            </a:r>
          </a:p>
          <a:p>
            <a:r>
              <a:rPr sz="1600" b="0">
                <a:solidFill>
                  <a:srgbClr val="1F2937"/>
                </a:solidFill>
              </a:rPr>
              <a:t>• Scales to zero when idle (~$0-5/month)</a:t>
            </a:r>
          </a:p>
          <a:p>
            <a:r>
              <a:rPr sz="1600" b="0">
                <a:solidFill>
                  <a:srgbClr val="1F2937"/>
                </a:solidFill>
              </a:rPr>
              <a:t>• Zero-downtime deployments</a:t>
            </a:r>
          </a:p>
          <a:p>
            <a:r>
              <a:rPr sz="1600" b="0">
                <a:solidFill>
                  <a:srgbClr val="1F2937"/>
                </a:solidFill>
              </a:rPr>
              <a:t>• Secrets from GCP Secret Manager</a:t>
            </a:r>
          </a:p>
          <a:p>
            <a:r>
              <a:rPr sz="1600" b="0">
                <a:solidFill>
                  <a:srgbClr val="1F2937"/>
                </a:solidFill>
              </a:rPr>
              <a:t>• Session affinity for WebSocket support</a:t>
            </a:r>
          </a:p>
          <a:p>
            <a:r>
              <a:rPr sz="1600" b="0">
                <a:solidFill>
                  <a:srgbClr val="1F2937"/>
                </a:solidFill>
              </a:rPr>
              <a:t>• 1Gi memory, 300s timeout, 0-2 instances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</a:rPr>
              <a:t>1. Agentic AI &gt; prompt chaining</a:t>
            </a:r>
          </a:p>
          <a:p>
            <a:r>
              <a:rPr sz="1500" b="0">
                <a:solidFill>
                  <a:srgbClr val="64748B"/>
                </a:solidFill>
              </a:rPr>
              <a:t>   State machines with error handling per node</a:t>
            </a:r>
          </a:p>
          <a:p>
            <a:r>
              <a:rPr sz="1600" b="0">
                <a:solidFill>
                  <a:srgbClr val="1F2937"/>
                </a:solidFill>
              </a:rPr>
              <a:t/>
            </a:r>
          </a:p>
          <a:p>
            <a:r>
              <a:rPr sz="1700" b="1">
                <a:solidFill>
                  <a:srgbClr val="1F2937"/>
                </a:solidFill>
              </a:rPr>
              <a:t>2. Governance isn't optional</a:t>
            </a:r>
          </a:p>
          <a:p>
            <a:r>
              <a:rPr sz="1500" b="0">
                <a:solidFill>
                  <a:srgbClr val="64748B"/>
                </a:solidFill>
              </a:rPr>
              <a:t>   Rate limiting, PII detection, audit trails = table stakes</a:t>
            </a:r>
          </a:p>
          <a:p>
            <a:r>
              <a:rPr sz="1600" b="0">
                <a:solidFill>
                  <a:srgbClr val="1F2937"/>
                </a:solidFill>
              </a:rPr>
              <a:t/>
            </a:r>
          </a:p>
          <a:p>
            <a:r>
              <a:rPr sz="1700" b="1">
                <a:solidFill>
                  <a:srgbClr val="1F2937"/>
                </a:solidFill>
              </a:rPr>
              <a:t>3. RAG quality &gt; RAG quantity</a:t>
            </a:r>
          </a:p>
          <a:p>
            <a:r>
              <a:rPr sz="1500" b="0">
                <a:solidFill>
                  <a:srgbClr val="64748B"/>
                </a:solidFill>
              </a:rPr>
              <a:t>   8 relevant chunks beat 50 raw search results</a:t>
            </a:r>
          </a:p>
          <a:p>
            <a:r>
              <a:rPr sz="1600" b="0">
                <a:solidFill>
                  <a:srgbClr val="1F2937"/>
                </a:solidFill>
              </a:rPr>
              <a:t/>
            </a:r>
          </a:p>
          <a:p>
            <a:r>
              <a:rPr sz="1700" b="1">
                <a:solidFill>
                  <a:srgbClr val="1F2937"/>
                </a:solidFill>
              </a:rPr>
              <a:t>4. Middleware pattern works for AI governance</a:t>
            </a:r>
          </a:p>
          <a:p>
            <a:r>
              <a:rPr sz="1500" b="0">
                <a:solidFill>
                  <a:srgbClr val="64748B"/>
                </a:solidFill>
              </a:rPr>
              <a:t>   Each feature is a layer, toggled independently</a:t>
            </a:r>
          </a:p>
          <a:p>
            <a:r>
              <a:rPr sz="1600" b="0">
                <a:solidFill>
                  <a:srgbClr val="1F2937"/>
                </a:solidFill>
              </a:rPr>
              <a:t/>
            </a:r>
          </a:p>
          <a:p>
            <a:r>
              <a:rPr sz="1700" b="1">
                <a:solidFill>
                  <a:srgbClr val="1F2937"/>
                </a:solidFill>
              </a:rPr>
              <a:t>5. Cloud Run = perfect for AI side projects</a:t>
            </a:r>
          </a:p>
          <a:p>
            <a:r>
              <a:rPr sz="1500" b="0">
                <a:solidFill>
                  <a:srgbClr val="64748B"/>
                </a:solidFill>
              </a:rPr>
              <a:t>   Scales to zero, WebSocket support, $0 when idle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</a:rPr>
              <a:t>Free Learning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F46E5"/>
                </a:solidFill>
              </a:rPr>
              <a:t>Courses:</a:t>
            </a:r>
          </a:p>
          <a:p>
            <a:r>
              <a:rPr sz="1600" b="0">
                <a:solidFill>
                  <a:srgbClr val="1F2937"/>
                </a:solidFill>
              </a:rPr>
              <a:t/>
            </a:r>
          </a:p>
          <a:p>
            <a:r>
              <a:rPr sz="1500" b="0">
                <a:solidFill>
                  <a:srgbClr val="1F2937"/>
                </a:solidFill>
              </a:rPr>
              <a:t>• Building AI Agents with LangGraph — DeepLearning.AI</a:t>
            </a:r>
          </a:p>
          <a:p>
            <a:r>
              <a:rPr sz="1500" b="0">
                <a:solidFill>
                  <a:srgbClr val="1F2937"/>
                </a:solidFill>
              </a:rPr>
              <a:t>• AI Agentic Design Patterns — DeepLearning.AI</a:t>
            </a:r>
          </a:p>
          <a:p>
            <a:r>
              <a:rPr sz="1500" b="0">
                <a:solidFill>
                  <a:srgbClr val="1F2937"/>
                </a:solidFill>
              </a:rPr>
              <a:t>• Building RAG Agents with LLMs — NVIDIA DLI</a:t>
            </a:r>
          </a:p>
          <a:p>
            <a:r>
              <a:rPr sz="1500" b="0">
                <a:solidFill>
                  <a:srgbClr val="1F2937"/>
                </a:solidFill>
              </a:rPr>
              <a:t>• Generative AI Fundamentals — IBM CognitiveClass.ai</a:t>
            </a:r>
          </a:p>
          <a:p>
            <a:r>
              <a:rPr sz="1500" b="0">
                <a:solidFill>
                  <a:srgbClr val="1F2937"/>
                </a:solidFill>
              </a:rPr>
              <a:t>• Building GenAI Apps with Python — IBM CognitiveClass.ai</a:t>
            </a:r>
          </a:p>
          <a:p>
            <a:r>
              <a:rPr sz="1500" b="0">
                <a:solidFill>
                  <a:srgbClr val="1F2937"/>
                </a:solidFill>
              </a:rPr>
              <a:t>• Functions, Tools &amp; Agents — DeepLearning.AI</a:t>
            </a:r>
          </a:p>
          <a:p>
            <a:r>
              <a:rPr sz="1600" b="0">
                <a:solidFill>
                  <a:srgbClr val="1F2937"/>
                </a:solidFill>
              </a:rPr>
              <a:t/>
            </a:r>
          </a:p>
          <a:p>
            <a:r>
              <a:rPr sz="1800" b="1">
                <a:solidFill>
                  <a:srgbClr val="4F46E5"/>
                </a:solidFill>
              </a:rPr>
              <a:t>Docs:</a:t>
            </a:r>
          </a:p>
          <a:p>
            <a:r>
              <a:rPr sz="1500" b="0">
                <a:solidFill>
                  <a:srgbClr val="1F2937"/>
                </a:solidFill>
              </a:rPr>
              <a:t>• LangGraph — langchain-ai.github.io/langgraph</a:t>
            </a:r>
          </a:p>
          <a:p>
            <a:r>
              <a:rPr sz="1500" b="0">
                <a:solidFill>
                  <a:srgbClr val="1F2937"/>
                </a:solidFill>
              </a:rPr>
              <a:t>• Gemini Cookbook — github.com/google-gemini/cookbook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Thank You</a:t>
            </a:r>
          </a:p>
          <a:p>
            <a:r>
              <a:rPr sz="1200" b="0">
                <a:solidFill>
                  <a:srgbClr val="FFFFFF"/>
                </a:solidFill>
              </a:rPr>
              <a:t/>
            </a:r>
          </a:p>
          <a:p>
            <a:r>
              <a:rPr sz="2000" b="0">
                <a:solidFill>
                  <a:srgbClr val="FFFFFF"/>
                </a:solidFill>
              </a:rPr>
              <a:t>github.com/cprakash0105/research-agent</a:t>
            </a:r>
          </a:p>
          <a:p>
            <a:r>
              <a:rPr sz="1800" b="0">
                <a:solidFill>
                  <a:srgbClr val="FFFFFF"/>
                </a:solidFill>
              </a:rPr>
              <a:t>research-agent-489654189917.us-central1.run.app</a:t>
            </a:r>
          </a:p>
          <a:p>
            <a:r>
              <a:rPr sz="1200" b="0">
                <a:solidFill>
                  <a:srgbClr val="FFFFFF"/>
                </a:solidFill>
              </a:rPr>
              <a:t/>
            </a:r>
          </a:p>
          <a:p>
            <a:r>
              <a:rPr sz="2000" b="0">
                <a:solidFill>
                  <a:srgbClr val="FFFFFF"/>
                </a:solidFill>
              </a:rPr>
              <a:t>Chandra Prakash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